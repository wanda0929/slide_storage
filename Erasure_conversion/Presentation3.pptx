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4"/>
  </p:normalViewPr>
  <p:slideViewPr>
    <p:cSldViewPr snapToGrid="0">
      <p:cViewPr varScale="1">
        <p:scale>
          <a:sx n="91" d="100"/>
          <a:sy n="91" d="100"/>
        </p:scale>
        <p:origin x="192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9DA1B-61EA-6E51-AC17-7C9069DBAD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7AB82B-EF7D-5A3F-29EF-1CB171AF4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290F0-6626-55F8-FA7E-21A51518C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28BD8-C05E-4743-A542-7ED6F0CCF55E}" type="datetimeFigureOut">
              <a:rPr lang="en-CN" smtClean="0"/>
              <a:t>2026/2/26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06CF0-D4ED-0DDB-EC6C-5A8338D33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343D4-C848-C947-8EE9-E9F02FE6A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2CE7-E2F5-EA4C-B030-6D858C17FC4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25513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7C1AD-4172-C1B8-AC66-692195260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3887A-84F9-A93E-0EB8-A86D378CD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75DD7-C3F5-C326-DDA8-2E6B9BC77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28BD8-C05E-4743-A542-7ED6F0CCF55E}" type="datetimeFigureOut">
              <a:rPr lang="en-CN" smtClean="0"/>
              <a:t>2026/2/26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33EFF-BBA9-2278-CC15-C0421A67F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DE301-9FC9-5940-6010-DF89844F7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2CE7-E2F5-EA4C-B030-6D858C17FC4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59195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200E4-155F-DB93-D0E1-672463B11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698D0-8D53-B4D3-C176-3A9E0DE63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3FF22-9B0E-B58E-BD5F-65A1A7BF0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28BD8-C05E-4743-A542-7ED6F0CCF55E}" type="datetimeFigureOut">
              <a:rPr lang="en-CN" smtClean="0"/>
              <a:t>2026/2/26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FA8DB-E621-398B-6300-9E93EADF3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91E31-DF26-49BD-7051-B6EF19FBD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2CE7-E2F5-EA4C-B030-6D858C17FC4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06247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069C3-6E8A-2AD3-5429-AFCE08E42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1B8CB-42C6-3D65-5D9B-61CADB3CC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138FB-6398-02AD-6F9A-FF63463F3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CC43A-3F2B-80FC-211B-4CF5101C6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28BD8-C05E-4743-A542-7ED6F0CCF55E}" type="datetimeFigureOut">
              <a:rPr lang="en-CN" smtClean="0"/>
              <a:t>2026/2/26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F40DDC-1F3E-85FD-36FD-F9EF48D9C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67E2B-157E-292E-E52B-047B3E40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2CE7-E2F5-EA4C-B030-6D858C17FC4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9657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21DD2-9492-8144-D2B3-0D6FDF452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6F73F-03EE-A787-EE10-2D7F17C48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B7CD98-FE34-9D06-312F-9A5842252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FC6E68-D45B-AB5B-1200-83E8C47EDC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8B568-588C-586D-34BB-CD82E29C56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8A797F-A471-AF5C-B928-964D78767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28BD8-C05E-4743-A542-7ED6F0CCF55E}" type="datetimeFigureOut">
              <a:rPr lang="en-CN" smtClean="0"/>
              <a:t>2026/2/26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0B8BB2-AF42-6402-780C-20C1E7667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3ADD72-CED5-924E-8538-695139A1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2CE7-E2F5-EA4C-B030-6D858C17FC4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13130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188D3-194B-9858-BFD2-88683911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C31FA-8244-56B9-4C2B-285F409DA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28BD8-C05E-4743-A542-7ED6F0CCF55E}" type="datetimeFigureOut">
              <a:rPr lang="en-CN" smtClean="0"/>
              <a:t>2026/2/26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397DCC-C00C-C100-FAD8-0FE2C0DF7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ACEB79-2424-CA88-A9D8-1CE536553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2CE7-E2F5-EA4C-B030-6D858C17FC4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35577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D11E25-FFB5-1770-0D52-846EE879E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28BD8-C05E-4743-A542-7ED6F0CCF55E}" type="datetimeFigureOut">
              <a:rPr lang="en-CN" smtClean="0"/>
              <a:t>2026/2/26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181217-CAD0-68DE-9F47-72A03BDC1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D146D-65D4-F4CB-C897-F98D2FB30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2CE7-E2F5-EA4C-B030-6D858C17FC4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07520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393DF-E47E-1235-30F5-6C57054AB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F5060-FD2E-E1DF-871D-878F3FADC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CC8047-21D3-6ECD-F1D6-3ABD03E2B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C0C5F7-AC8A-9C31-5629-E48B7C313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28BD8-C05E-4743-A542-7ED6F0CCF55E}" type="datetimeFigureOut">
              <a:rPr lang="en-CN" smtClean="0"/>
              <a:t>2026/2/26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4EF05-04C9-80CE-5FEA-83123716C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FC1AF-2A39-FC70-0844-274F5D32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2CE7-E2F5-EA4C-B030-6D858C17FC4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7958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665AA-61E9-DB1A-5738-38ED132AF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8ABD47-D015-89BE-49CF-5FA65F09A6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4756A-8D0D-A5E6-01F4-010E96DAF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080685-664A-7597-C7A9-24FB3FBCB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28BD8-C05E-4743-A542-7ED6F0CCF55E}" type="datetimeFigureOut">
              <a:rPr lang="en-CN" smtClean="0"/>
              <a:t>2026/2/26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8D92B7-B8B8-9390-0257-C056CCF99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1BACF-2819-ADE1-582C-4EF4EBFE4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2CE7-E2F5-EA4C-B030-6D858C17FC4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39286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A44D1-2CB9-DB23-E32B-40A88976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430F84-944C-702B-CADB-9040213DE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26711-68D9-AD59-B1EE-D9FD1A3DF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28BD8-C05E-4743-A542-7ED6F0CCF55E}" type="datetimeFigureOut">
              <a:rPr lang="en-CN" smtClean="0"/>
              <a:t>2026/2/26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A9A4E-9D86-463B-FFCE-0CF7CCBF2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2AC7E-13B3-7EBE-6923-0E663EF8F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2CE7-E2F5-EA4C-B030-6D858C17FC4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32442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DCC59C-B0B8-BBA1-C840-7E5D096362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EA98A6-D318-DD93-571B-01B5D58AE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3A1AF-A7F5-1735-E782-B1D601F6E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28BD8-C05E-4743-A542-7ED6F0CCF55E}" type="datetimeFigureOut">
              <a:rPr lang="en-CN" smtClean="0"/>
              <a:t>2026/2/26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8BA46-24BB-DE3F-76D1-8156B8A9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265EE-7468-CCDF-02A1-2E5A8B76C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92CE7-E2F5-EA4C-B030-6D858C17FC4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8086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E8F14E-FEFE-1868-6C26-70F7C012E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B0101-780C-06EC-1CAD-64D45EA7C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9EE76-6155-0E43-7159-E5B3C0C4AE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728BD8-C05E-4743-A542-7ED6F0CCF55E}" type="datetimeFigureOut">
              <a:rPr lang="en-CN" smtClean="0"/>
              <a:t>2026/2/26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28FEB-56EF-5B78-D7B2-57EACE21CC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2305F-4814-2537-E9EA-B0EFD19210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A92CE7-E2F5-EA4C-B030-6D858C17FC4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64424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616473-3740-1E40-C67F-094177938408}"/>
              </a:ext>
            </a:extLst>
          </p:cNvPr>
          <p:cNvSpPr/>
          <p:nvPr/>
        </p:nvSpPr>
        <p:spPr>
          <a:xfrm>
            <a:off x="2881539" y="3428999"/>
            <a:ext cx="1702190" cy="1322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0" name="Picture 9" descr="A diagram of a scientific experiment&#10;&#10;Description automatically generated">
            <a:extLst>
              <a:ext uri="{FF2B5EF4-FFF2-40B4-BE49-F238E27FC236}">
                <a16:creationId xmlns:a16="http://schemas.microsoft.com/office/drawing/2014/main" id="{AF9BCC4D-603A-CCBE-C582-2035614E64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97" t="39127" r="14492" b="-1"/>
          <a:stretch/>
        </p:blipFill>
        <p:spPr>
          <a:xfrm>
            <a:off x="1944217" y="1345323"/>
            <a:ext cx="6106707" cy="551267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A359E64-A9D7-21FF-EE91-961C29E49D2D}"/>
              </a:ext>
            </a:extLst>
          </p:cNvPr>
          <p:cNvSpPr/>
          <p:nvPr/>
        </p:nvSpPr>
        <p:spPr>
          <a:xfrm>
            <a:off x="6484884" y="1271752"/>
            <a:ext cx="1566042" cy="12297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1B873A-12AD-72F8-26ED-1803B0548C95}"/>
              </a:ext>
            </a:extLst>
          </p:cNvPr>
          <p:cNvSpPr/>
          <p:nvPr/>
        </p:nvSpPr>
        <p:spPr>
          <a:xfrm>
            <a:off x="7267903" y="2199289"/>
            <a:ext cx="783021" cy="12297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36D297-CAD6-D0D9-CAF0-5263D3D3ABE2}"/>
              </a:ext>
            </a:extLst>
          </p:cNvPr>
          <p:cNvSpPr/>
          <p:nvPr/>
        </p:nvSpPr>
        <p:spPr>
          <a:xfrm>
            <a:off x="2002020" y="4064875"/>
            <a:ext cx="1970889" cy="25869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9EAC01-3C7B-AE86-A5E2-5905F44F1DAA}"/>
              </a:ext>
            </a:extLst>
          </p:cNvPr>
          <p:cNvSpPr/>
          <p:nvPr/>
        </p:nvSpPr>
        <p:spPr>
          <a:xfrm>
            <a:off x="2596056" y="5329430"/>
            <a:ext cx="2070538" cy="13223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1DA8DC5-7FDD-8C11-B5E0-2F9B5C578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380" y="5100829"/>
            <a:ext cx="2070539" cy="76794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5D2317D-DCEB-9E1E-CAAE-6C19D7C34C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300" y="628650"/>
            <a:ext cx="6121400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810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941190-C67E-BD96-4057-430947307007}"/>
              </a:ext>
            </a:extLst>
          </p:cNvPr>
          <p:cNvCxnSpPr/>
          <p:nvPr/>
        </p:nvCxnSpPr>
        <p:spPr>
          <a:xfrm>
            <a:off x="2322783" y="1450428"/>
            <a:ext cx="61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C5D4B3C-C068-B421-6C57-167C8AD6D7AD}"/>
              </a:ext>
            </a:extLst>
          </p:cNvPr>
          <p:cNvCxnSpPr/>
          <p:nvPr/>
        </p:nvCxnSpPr>
        <p:spPr>
          <a:xfrm>
            <a:off x="2322783" y="2391103"/>
            <a:ext cx="61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E56001-9948-8A46-B9CC-ED39DBDF42CF}"/>
              </a:ext>
            </a:extLst>
          </p:cNvPr>
          <p:cNvCxnSpPr/>
          <p:nvPr/>
        </p:nvCxnSpPr>
        <p:spPr>
          <a:xfrm>
            <a:off x="3410601" y="2391103"/>
            <a:ext cx="61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96A2197-60A0-7CF0-E190-6683171AA164}"/>
                  </a:ext>
                </a:extLst>
              </p:cNvPr>
              <p:cNvSpPr txBox="1"/>
              <p:nvPr/>
            </p:nvSpPr>
            <p:spPr>
              <a:xfrm>
                <a:off x="2974428" y="1311928"/>
                <a:ext cx="31861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CN" sz="16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96A2197-60A0-7CF0-E190-6683171AA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4428" y="1311928"/>
                <a:ext cx="318612" cy="246221"/>
              </a:xfrm>
              <a:prstGeom prst="rect">
                <a:avLst/>
              </a:prstGeom>
              <a:blipFill>
                <a:blip r:embed="rId2"/>
                <a:stretch>
                  <a:fillRect l="-50000" t="-170000" r="-88462" b="-26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E8F5E1-2694-968C-1BAA-873F3A13D5BB}"/>
                  </a:ext>
                </a:extLst>
              </p:cNvPr>
              <p:cNvSpPr txBox="1"/>
              <p:nvPr/>
            </p:nvSpPr>
            <p:spPr>
              <a:xfrm>
                <a:off x="2974428" y="2267992"/>
                <a:ext cx="29495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CN" sz="16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E8F5E1-2694-968C-1BAA-873F3A13D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4428" y="2267992"/>
                <a:ext cx="294953" cy="246221"/>
              </a:xfrm>
              <a:prstGeom prst="rect">
                <a:avLst/>
              </a:prstGeom>
              <a:blipFill>
                <a:blip r:embed="rId3"/>
                <a:stretch>
                  <a:fillRect l="-62500" t="-170000" r="-95833" b="-265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732550-19AD-C293-4F5A-771004EC3F6C}"/>
                  </a:ext>
                </a:extLst>
              </p:cNvPr>
              <p:cNvSpPr txBox="1"/>
              <p:nvPr/>
            </p:nvSpPr>
            <p:spPr>
              <a:xfrm>
                <a:off x="4108878" y="2267992"/>
                <a:ext cx="29495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CN" sz="16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732550-19AD-C293-4F5A-771004EC3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8878" y="2267992"/>
                <a:ext cx="294953" cy="246221"/>
              </a:xfrm>
              <a:prstGeom prst="rect">
                <a:avLst/>
              </a:prstGeom>
              <a:blipFill>
                <a:blip r:embed="rId4"/>
                <a:stretch>
                  <a:fillRect l="-58333" t="-170000" r="-95833" b="-265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61FBD71-E10D-55C8-FA5F-404DF332DB33}"/>
              </a:ext>
            </a:extLst>
          </p:cNvPr>
          <p:cNvCxnSpPr/>
          <p:nvPr/>
        </p:nvCxnSpPr>
        <p:spPr>
          <a:xfrm flipV="1">
            <a:off x="2427744" y="1450428"/>
            <a:ext cx="0" cy="94067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52A7D37-82FE-1F80-89E7-FF8CE38D7425}"/>
                  </a:ext>
                </a:extLst>
              </p:cNvPr>
              <p:cNvSpPr txBox="1"/>
              <p:nvPr/>
            </p:nvSpPr>
            <p:spPr>
              <a:xfrm>
                <a:off x="2478954" y="1782266"/>
                <a:ext cx="2035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CN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52A7D37-82FE-1F80-89E7-FF8CE38D7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954" y="1782266"/>
                <a:ext cx="203581" cy="276999"/>
              </a:xfrm>
              <a:prstGeom prst="rect">
                <a:avLst/>
              </a:prstGeom>
              <a:blipFill>
                <a:blip r:embed="rId5"/>
                <a:stretch>
                  <a:fillRect l="-23529" r="-23529" b="-434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615D7B7B-FAE0-7EB4-B964-9CCA5C301B54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33671" y="1831462"/>
            <a:ext cx="897496" cy="17860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48166930-B8DA-D658-31B1-0AEE6E4421A6}"/>
              </a:ext>
            </a:extLst>
          </p:cNvPr>
          <p:cNvCxnSpPr>
            <a:cxnSpLocks/>
          </p:cNvCxnSpPr>
          <p:nvPr/>
        </p:nvCxnSpPr>
        <p:spPr>
          <a:xfrm rot="16200000" flipH="1">
            <a:off x="2833365" y="1482216"/>
            <a:ext cx="894124" cy="88047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6C7ECA2-257C-E868-A1D4-7C255291A7FD}"/>
                  </a:ext>
                </a:extLst>
              </p:cNvPr>
              <p:cNvSpPr txBox="1"/>
              <p:nvPr/>
            </p:nvSpPr>
            <p:spPr>
              <a:xfrm>
                <a:off x="3293040" y="1636071"/>
                <a:ext cx="2492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CN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6C7ECA2-257C-E868-A1D4-7C255291A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3040" y="1636071"/>
                <a:ext cx="249299" cy="276999"/>
              </a:xfrm>
              <a:prstGeom prst="rect">
                <a:avLst/>
              </a:prstGeom>
              <a:blipFill>
                <a:blip r:embed="rId6"/>
                <a:stretch>
                  <a:fillRect l="-25000" b="-869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374464E-1A6A-FA99-70D2-07FA78E9E604}"/>
              </a:ext>
            </a:extLst>
          </p:cNvPr>
          <p:cNvCxnSpPr/>
          <p:nvPr/>
        </p:nvCxnSpPr>
        <p:spPr>
          <a:xfrm>
            <a:off x="5481142" y="1450427"/>
            <a:ext cx="61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D490DAD-5741-B722-59B9-BE823A666D66}"/>
              </a:ext>
            </a:extLst>
          </p:cNvPr>
          <p:cNvCxnSpPr/>
          <p:nvPr/>
        </p:nvCxnSpPr>
        <p:spPr>
          <a:xfrm>
            <a:off x="5481142" y="2391102"/>
            <a:ext cx="61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B5A5680-0999-87B1-6655-82A89129528E}"/>
              </a:ext>
            </a:extLst>
          </p:cNvPr>
          <p:cNvCxnSpPr/>
          <p:nvPr/>
        </p:nvCxnSpPr>
        <p:spPr>
          <a:xfrm>
            <a:off x="6568960" y="2391102"/>
            <a:ext cx="61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6C96F1F-0BE0-D1E6-2BFE-4241B6493DD0}"/>
                  </a:ext>
                </a:extLst>
              </p:cNvPr>
              <p:cNvSpPr txBox="1"/>
              <p:nvPr/>
            </p:nvSpPr>
            <p:spPr>
              <a:xfrm>
                <a:off x="6132787" y="1311927"/>
                <a:ext cx="31861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CN" sz="16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6C96F1F-0BE0-D1E6-2BFE-4241B6493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787" y="1311927"/>
                <a:ext cx="318612" cy="246221"/>
              </a:xfrm>
              <a:prstGeom prst="rect">
                <a:avLst/>
              </a:prstGeom>
              <a:blipFill>
                <a:blip r:embed="rId7"/>
                <a:stretch>
                  <a:fillRect l="-46154" t="-170000" r="-88462" b="-26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A692A2A-5761-228E-A86F-C02BD16C9EB9}"/>
                  </a:ext>
                </a:extLst>
              </p:cNvPr>
              <p:cNvSpPr txBox="1"/>
              <p:nvPr/>
            </p:nvSpPr>
            <p:spPr>
              <a:xfrm>
                <a:off x="6132787" y="2267991"/>
                <a:ext cx="29495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CN" sz="16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A692A2A-5761-228E-A86F-C02BD16C9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787" y="2267991"/>
                <a:ext cx="294953" cy="246221"/>
              </a:xfrm>
              <a:prstGeom prst="rect">
                <a:avLst/>
              </a:prstGeom>
              <a:blipFill>
                <a:blip r:embed="rId8"/>
                <a:stretch>
                  <a:fillRect l="-58333" t="-170000" r="-95833" b="-265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206FF3E-B4F5-E653-4911-84624E544E7B}"/>
                  </a:ext>
                </a:extLst>
              </p:cNvPr>
              <p:cNvSpPr txBox="1"/>
              <p:nvPr/>
            </p:nvSpPr>
            <p:spPr>
              <a:xfrm>
                <a:off x="7267237" y="2267991"/>
                <a:ext cx="29495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CN" sz="16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206FF3E-B4F5-E653-4911-84624E544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7237" y="2267991"/>
                <a:ext cx="294953" cy="246221"/>
              </a:xfrm>
              <a:prstGeom prst="rect">
                <a:avLst/>
              </a:prstGeom>
              <a:blipFill>
                <a:blip r:embed="rId9"/>
                <a:stretch>
                  <a:fillRect l="-62500" t="-170000" r="-95833" b="-265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18F972E-C55D-7A48-FAEC-2987F2F85F72}"/>
              </a:ext>
            </a:extLst>
          </p:cNvPr>
          <p:cNvCxnSpPr/>
          <p:nvPr/>
        </p:nvCxnSpPr>
        <p:spPr>
          <a:xfrm flipV="1">
            <a:off x="5586103" y="1450427"/>
            <a:ext cx="0" cy="94067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B1B9901-BE24-8569-B1B9-34B6E16CF694}"/>
                  </a:ext>
                </a:extLst>
              </p:cNvPr>
              <p:cNvSpPr txBox="1"/>
              <p:nvPr/>
            </p:nvSpPr>
            <p:spPr>
              <a:xfrm>
                <a:off x="5637313" y="1782265"/>
                <a:ext cx="2035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CN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B1B9901-BE24-8569-B1B9-34B6E16CF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313" y="1782265"/>
                <a:ext cx="203581" cy="276999"/>
              </a:xfrm>
              <a:prstGeom prst="rect">
                <a:avLst/>
              </a:prstGeom>
              <a:blipFill>
                <a:blip r:embed="rId10"/>
                <a:stretch>
                  <a:fillRect l="-31250" r="-31250" b="-434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5BC55CB3-0BC1-F9C0-6012-F9EEAD002E33}"/>
              </a:ext>
            </a:extLst>
          </p:cNvPr>
          <p:cNvCxnSpPr>
            <a:cxnSpLocks/>
          </p:cNvCxnSpPr>
          <p:nvPr/>
        </p:nvCxnSpPr>
        <p:spPr>
          <a:xfrm rot="16200000" flipH="1">
            <a:off x="5492030" y="1831461"/>
            <a:ext cx="897496" cy="17860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23E9C97B-585D-8ED5-E50C-88C383D7081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91724" y="1482215"/>
            <a:ext cx="894124" cy="88047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60EE7F1-808E-83A2-1398-E9CD0B61345A}"/>
                  </a:ext>
                </a:extLst>
              </p:cNvPr>
              <p:cNvSpPr txBox="1"/>
              <p:nvPr/>
            </p:nvSpPr>
            <p:spPr>
              <a:xfrm>
                <a:off x="6451399" y="1636070"/>
                <a:ext cx="2492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CN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60EE7F1-808E-83A2-1398-E9CD0B6134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399" y="1636070"/>
                <a:ext cx="249299" cy="276999"/>
              </a:xfrm>
              <a:prstGeom prst="rect">
                <a:avLst/>
              </a:prstGeom>
              <a:blipFill>
                <a:blip r:embed="rId11"/>
                <a:stretch>
                  <a:fillRect l="-19048" b="-869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52F9109-9C4F-D695-D5EC-2DBFEA197B27}"/>
              </a:ext>
            </a:extLst>
          </p:cNvPr>
          <p:cNvCxnSpPr/>
          <p:nvPr/>
        </p:nvCxnSpPr>
        <p:spPr>
          <a:xfrm>
            <a:off x="4403831" y="1913069"/>
            <a:ext cx="59475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C188CFE-BF54-0CC8-3691-E2E5F3CAA4F1}"/>
              </a:ext>
            </a:extLst>
          </p:cNvPr>
          <p:cNvSpPr txBox="1"/>
          <p:nvPr/>
        </p:nvSpPr>
        <p:spPr>
          <a:xfrm>
            <a:off x="6180856" y="1602923"/>
            <a:ext cx="343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800" dirty="0">
                <a:solidFill>
                  <a:srgbClr val="FF0000"/>
                </a:solidFill>
              </a:rPr>
              <a:t>x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8367557-E310-A0C7-2A10-60A645C86C88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16444" b="24133"/>
          <a:stretch/>
        </p:blipFill>
        <p:spPr>
          <a:xfrm>
            <a:off x="2322783" y="3100944"/>
            <a:ext cx="5549900" cy="136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051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692F616-130F-A7D5-CEF9-8F7508752C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0023" y="1425100"/>
            <a:ext cx="7832408" cy="435133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CBB732C-258B-476A-8B96-EEA443EEAE68}"/>
              </a:ext>
            </a:extLst>
          </p:cNvPr>
          <p:cNvCxnSpPr/>
          <p:nvPr/>
        </p:nvCxnSpPr>
        <p:spPr>
          <a:xfrm flipV="1">
            <a:off x="4971393" y="1135117"/>
            <a:ext cx="346841" cy="4204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3E13061-6C73-51BD-A98E-51886287C3B5}"/>
              </a:ext>
            </a:extLst>
          </p:cNvPr>
          <p:cNvCxnSpPr>
            <a:cxnSpLocks/>
          </p:cNvCxnSpPr>
          <p:nvPr/>
        </p:nvCxnSpPr>
        <p:spPr>
          <a:xfrm flipH="1" flipV="1">
            <a:off x="5318234" y="1135117"/>
            <a:ext cx="620111" cy="4204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21A7301-3169-0A04-7DF3-054FC678859D}"/>
              </a:ext>
            </a:extLst>
          </p:cNvPr>
          <p:cNvCxnSpPr>
            <a:cxnSpLocks/>
          </p:cNvCxnSpPr>
          <p:nvPr/>
        </p:nvCxnSpPr>
        <p:spPr>
          <a:xfrm flipH="1" flipV="1">
            <a:off x="5391807" y="1135117"/>
            <a:ext cx="1429407" cy="4204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7211FA5-312D-9EA1-12DD-CBCF0BC69639}"/>
              </a:ext>
            </a:extLst>
          </p:cNvPr>
          <p:cNvCxnSpPr>
            <a:cxnSpLocks/>
          </p:cNvCxnSpPr>
          <p:nvPr/>
        </p:nvCxnSpPr>
        <p:spPr>
          <a:xfrm flipH="1" flipV="1">
            <a:off x="5424049" y="1081562"/>
            <a:ext cx="3436172" cy="4739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6B5A71B-C45F-F9AB-026B-4D066B958440}"/>
              </a:ext>
            </a:extLst>
          </p:cNvPr>
          <p:cNvSpPr txBox="1"/>
          <p:nvPr/>
        </p:nvSpPr>
        <p:spPr>
          <a:xfrm>
            <a:off x="4309241" y="462008"/>
            <a:ext cx="251197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N" dirty="0"/>
              <a:t>Fast and parallel fluorescence detection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33D4B4-BFD2-DE40-B8AD-88AFC136A11D}"/>
              </a:ext>
            </a:extLst>
          </p:cNvPr>
          <p:cNvSpPr txBox="1"/>
          <p:nvPr/>
        </p:nvSpPr>
        <p:spPr>
          <a:xfrm>
            <a:off x="7898524" y="3600769"/>
            <a:ext cx="2243960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</a:t>
            </a:r>
            <a:r>
              <a:rPr lang="en-CN" dirty="0">
                <a:solidFill>
                  <a:srgbClr val="FF0000"/>
                </a:solidFill>
              </a:rPr>
              <a:t>eplace atoms with errors from resevior (can be regarded as random pauli errors with known location</a:t>
            </a:r>
          </a:p>
        </p:txBody>
      </p:sp>
    </p:spTree>
    <p:extLst>
      <p:ext uri="{BB962C8B-B14F-4D97-AF65-F5344CB8AC3E}">
        <p14:creationId xmlns:p14="http://schemas.microsoft.com/office/powerpoint/2010/main" val="1524743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355E062-6B9C-B040-2899-9E9EB7BECF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5242" y="819247"/>
            <a:ext cx="5574432" cy="5357716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4D35B234-3EF4-0510-8162-791C88E23D93}"/>
              </a:ext>
            </a:extLst>
          </p:cNvPr>
          <p:cNvSpPr/>
          <p:nvPr/>
        </p:nvSpPr>
        <p:spPr>
          <a:xfrm>
            <a:off x="6453352" y="1933903"/>
            <a:ext cx="294290" cy="3048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E2238D8-8859-58E0-56FB-A235F5B6865E}"/>
              </a:ext>
            </a:extLst>
          </p:cNvPr>
          <p:cNvSpPr/>
          <p:nvPr/>
        </p:nvSpPr>
        <p:spPr>
          <a:xfrm>
            <a:off x="7469575" y="1749973"/>
            <a:ext cx="294290" cy="3048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EB1488-26C4-91D5-00D4-251BD1EFB074}"/>
                  </a:ext>
                </a:extLst>
              </p:cNvPr>
              <p:cNvSpPr txBox="1"/>
              <p:nvPr/>
            </p:nvSpPr>
            <p:spPr>
              <a:xfrm>
                <a:off x="7606210" y="1993234"/>
                <a:ext cx="16869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𝑡h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=4.15%</m:t>
                      </m:r>
                    </m:oMath>
                  </m:oMathPara>
                </a14:m>
                <a:endParaRPr lang="en-CN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EB1488-26C4-91D5-00D4-251BD1EFB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210" y="1993234"/>
                <a:ext cx="1686910" cy="276999"/>
              </a:xfrm>
              <a:prstGeom prst="rect">
                <a:avLst/>
              </a:prstGeom>
              <a:blipFill>
                <a:blip r:embed="rId3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5F0438E-A123-6BF1-F57B-C4247B2EB9F8}"/>
                  </a:ext>
                </a:extLst>
              </p:cNvPr>
              <p:cNvSpPr txBox="1"/>
              <p:nvPr/>
            </p:nvSpPr>
            <p:spPr>
              <a:xfrm>
                <a:off x="5186856" y="1472974"/>
                <a:ext cx="16869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𝑡h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=0.937%</m:t>
                      </m:r>
                    </m:oMath>
                  </m:oMathPara>
                </a14:m>
                <a:endParaRPr lang="en-CN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5F0438E-A123-6BF1-F57B-C4247B2EB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856" y="1472974"/>
                <a:ext cx="1686910" cy="276999"/>
              </a:xfrm>
              <a:prstGeom prst="rect">
                <a:avLst/>
              </a:prstGeom>
              <a:blipFill>
                <a:blip r:embed="rId4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1125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A0DEE4-7B4B-C886-30F3-4E4E2A1754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68" b="3505"/>
          <a:stretch/>
        </p:blipFill>
        <p:spPr>
          <a:xfrm>
            <a:off x="1" y="29096"/>
            <a:ext cx="5473450" cy="2657833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CF3D94-3970-53D7-2122-CC691FEEC2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73450" y="29096"/>
            <a:ext cx="6718549" cy="31134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357747-E76F-3C71-5C31-6D2C8486F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86929"/>
            <a:ext cx="5473449" cy="320215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103864-4915-F175-916E-0A3AFC53B55B}"/>
                  </a:ext>
                </a:extLst>
              </p:cNvPr>
              <p:cNvSpPr txBox="1"/>
              <p:nvPr/>
            </p:nvSpPr>
            <p:spPr>
              <a:xfrm>
                <a:off x="3699803" y="1138405"/>
                <a:ext cx="96430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CN" sz="2400" dirty="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103864-4915-F175-916E-0A3AFC53B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803" y="1138405"/>
                <a:ext cx="964302" cy="369332"/>
              </a:xfrm>
              <a:prstGeom prst="rect">
                <a:avLst/>
              </a:prstGeom>
              <a:blipFill>
                <a:blip r:embed="rId5"/>
                <a:stretch>
                  <a:fillRect l="-6494" r="-6494" b="-1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13C803-DB84-1F4E-D13F-71ECD7B10646}"/>
                  </a:ext>
                </a:extLst>
              </p:cNvPr>
              <p:cNvSpPr txBox="1"/>
              <p:nvPr/>
            </p:nvSpPr>
            <p:spPr>
              <a:xfrm>
                <a:off x="1608402" y="556453"/>
                <a:ext cx="112832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CN" sz="2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C13C803-DB84-1F4E-D13F-71ECD7B10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402" y="556453"/>
                <a:ext cx="1128322" cy="430887"/>
              </a:xfrm>
              <a:prstGeom prst="rect">
                <a:avLst/>
              </a:prstGeom>
              <a:blipFill>
                <a:blip r:embed="rId6"/>
                <a:stretch>
                  <a:fillRect l="-6667" r="-6667" b="-857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7A6D741-B21B-D9F4-0B5B-7C8A8E487F1E}"/>
              </a:ext>
            </a:extLst>
          </p:cNvPr>
          <p:cNvCxnSpPr/>
          <p:nvPr/>
        </p:nvCxnSpPr>
        <p:spPr>
          <a:xfrm>
            <a:off x="3207434" y="182880"/>
            <a:ext cx="0" cy="1856935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1D7248-7518-5707-028C-73DAE9DC0CDD}"/>
                  </a:ext>
                </a:extLst>
              </p:cNvPr>
              <p:cNvSpPr txBox="1"/>
              <p:nvPr/>
            </p:nvSpPr>
            <p:spPr>
              <a:xfrm>
                <a:off x="8070754" y="3429000"/>
                <a:ext cx="15528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a:rPr lang="en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</m:sup>
                      </m:sSup>
                    </m:oMath>
                  </m:oMathPara>
                </a14:m>
                <a:endParaRPr lang="en-CN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1D7248-7518-5707-028C-73DAE9DC0C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0754" y="3429000"/>
                <a:ext cx="1552861" cy="369332"/>
              </a:xfrm>
              <a:prstGeom prst="rect">
                <a:avLst/>
              </a:prstGeom>
              <a:blipFill>
                <a:blip r:embed="rId7"/>
                <a:stretch>
                  <a:fillRect l="-4065" b="-2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424760-6943-DB2F-335D-116882ED2EE1}"/>
                  </a:ext>
                </a:extLst>
              </p:cNvPr>
              <p:cNvSpPr txBox="1"/>
              <p:nvPr/>
            </p:nvSpPr>
            <p:spPr>
              <a:xfrm>
                <a:off x="6718553" y="4040404"/>
                <a:ext cx="4257264" cy="1193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CN" sz="2400" dirty="0"/>
                  <a:t>Pauli error </a:t>
                </a:r>
                <a:r>
                  <a:rPr lang="en-CN" sz="2400" dirty="0">
                    <a:sym typeface="Wingdings" pitchFamily="2" charset="2"/>
                  </a:rPr>
                  <a:t></a:t>
                </a:r>
                <a:r>
                  <a:rPr lang="en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CN" sz="2400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=(</m:t>
                    </m:r>
                    <m:r>
                      <a:rPr lang="en-CN" sz="2400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𝑑</m:t>
                    </m:r>
                    <m:r>
                      <a:rPr lang="en-CN" sz="2400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+1)/2</m:t>
                    </m:r>
                  </m:oMath>
                </a14:m>
                <a:endParaRPr lang="en-CN" sz="2400" dirty="0"/>
              </a:p>
              <a:p>
                <a:pPr algn="ctr">
                  <a:lnSpc>
                    <a:spcPct val="150000"/>
                  </a:lnSpc>
                </a:pPr>
                <a:r>
                  <a:rPr lang="en-CN" sz="2400" dirty="0"/>
                  <a:t>Erasure error </a:t>
                </a:r>
                <a:r>
                  <a:rPr lang="en-CN" sz="2400" dirty="0">
                    <a:sym typeface="Wingdings" pitchFamily="2" charset="2"/>
                  </a:rPr>
                  <a:t>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CN" sz="2400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sym typeface="Wingdings" pitchFamily="2" charset="2"/>
                      </a:rPr>
                      <m:t>𝑑</m:t>
                    </m:r>
                  </m:oMath>
                </a14:m>
                <a:endParaRPr lang="en-CN" sz="2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424760-6943-DB2F-335D-116882ED2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8553" y="4040404"/>
                <a:ext cx="4257264" cy="1193084"/>
              </a:xfrm>
              <a:prstGeom prst="rect">
                <a:avLst/>
              </a:prstGeom>
              <a:blipFill>
                <a:blip r:embed="rId8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1B86FDB-3FC0-4E15-0FE6-64B5A717DBBC}"/>
                  </a:ext>
                </a:extLst>
              </p:cNvPr>
              <p:cNvSpPr txBox="1"/>
              <p:nvPr/>
            </p:nvSpPr>
            <p:spPr>
              <a:xfrm>
                <a:off x="3207434" y="4871401"/>
                <a:ext cx="24008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1800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(</m:t>
                      </m:r>
                      <m:r>
                        <a:rPr lang="en-CN" sz="1800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𝑑</m:t>
                      </m:r>
                      <m:r>
                        <a:rPr lang="en-CN" sz="1800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+1)/2</m:t>
                      </m:r>
                    </m:oMath>
                  </m:oMathPara>
                </a14:m>
                <a:endParaRPr lang="en-CN" sz="18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1B86FDB-3FC0-4E15-0FE6-64B5A717D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434" y="4871401"/>
                <a:ext cx="2400827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0AAF7A-179D-A6FA-0FB5-07FDA3C3BCEE}"/>
                  </a:ext>
                </a:extLst>
              </p:cNvPr>
              <p:cNvSpPr txBox="1"/>
              <p:nvPr/>
            </p:nvSpPr>
            <p:spPr>
              <a:xfrm>
                <a:off x="1009357" y="2964711"/>
                <a:ext cx="16149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dirty="0" smtClean="0">
                          <a:latin typeface="Cambria Math" panose="02040503050406030204" pitchFamily="18" charset="0"/>
                          <a:sym typeface="Wingdings" pitchFamily="2" charset="2"/>
                        </a:rPr>
                        <m:t>𝑑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0AAF7A-179D-A6FA-0FB5-07FDA3C3B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357" y="2964711"/>
                <a:ext cx="161493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8805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CEDA3CC-CBD0-DEFC-A69E-7DD4A579C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58766"/>
            <a:ext cx="7772400" cy="37404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44CC46A-5859-2935-22B4-515366408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48" y="1668963"/>
            <a:ext cx="7772400" cy="374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155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2980</TotalTime>
  <Words>80</Words>
  <Application>Microsoft Macintosh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Han WANG</dc:creator>
  <cp:lastModifiedBy>Han WANG</cp:lastModifiedBy>
  <cp:revision>4</cp:revision>
  <dcterms:created xsi:type="dcterms:W3CDTF">2026-02-26T02:36:40Z</dcterms:created>
  <dcterms:modified xsi:type="dcterms:W3CDTF">2026-02-28T04:16:46Z</dcterms:modified>
</cp:coreProperties>
</file>